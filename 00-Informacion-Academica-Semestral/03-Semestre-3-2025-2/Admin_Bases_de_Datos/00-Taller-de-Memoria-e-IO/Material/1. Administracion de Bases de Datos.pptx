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8" r:id="rId4"/>
    <p:sldMasterId id="2147483660" r:id="rId5"/>
    <p:sldMasterId id="2147483662" r:id="rId6"/>
    <p:sldMasterId id="2147483664" r:id="rId7"/>
    <p:sldMasterId id="2147483666" r:id="rId8"/>
    <p:sldMasterId id="2147483668" r:id="rId9"/>
  </p:sldMasterIdLst>
  <p:notesMasterIdLst>
    <p:notesMasterId r:id="rId27"/>
  </p:notesMasterIdLst>
  <p:sldIdLst>
    <p:sldId id="256" r:id="rId10"/>
    <p:sldId id="257" r:id="rId11"/>
    <p:sldId id="274" r:id="rId12"/>
    <p:sldId id="259" r:id="rId13"/>
    <p:sldId id="275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60" r:id="rId2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ACDE8-9BD8-444C-B425-9C4F43F32F34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EF08D-8D8C-4B18-9C48-F61488D093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2776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340348-BE85-4049-868D-F47182C34350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083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86AE237-C8A2-4B1B-B545-8928189DDDF4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CED6B55-DCB6-4AFF-9410-6B5061E32BF8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E1092087-2076-4D8E-8ED4-5D9A94C61682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BBE10D8E-9546-4C93-9853-A78AF7057C50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268EFB72-0493-4453-AC52-79AA55E223AD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2703237-4913-4027-B7E3-B1BB6E5A4972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30D42E90-F4E8-4A47-9137-E1749F1F1604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LAN DE CUALIFICACIÓN DOC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56BE7BD2-F074-49B6-9BF6-81F6F1E47E91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;p15"/>
          <p:cNvPicPr/>
          <p:nvPr/>
        </p:nvPicPr>
        <p:blipFill>
          <a:blip r:embed="rId5"/>
          <a:srcRect l="-1433" t="-1262" r="1433" b="4010"/>
          <a:stretch/>
        </p:blipFill>
        <p:spPr>
          <a:xfrm>
            <a:off x="5745960" y="4999320"/>
            <a:ext cx="6445800" cy="185832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64880" y="1214280"/>
            <a:ext cx="6655680" cy="259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s-CO" sz="5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D2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187EF5-B4B0-4D5A-9461-8F1E1AA1E35F}" type="slidenum">
              <a:rPr lang="en-US" sz="1200" b="0" strike="noStrike" spc="-1">
                <a:solidFill>
                  <a:srgbClr val="D28888"/>
                </a:solidFill>
                <a:latin typeface="Calibri"/>
                <a:ea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7265520" y="1208880"/>
            <a:ext cx="3210120" cy="326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4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4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4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4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4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4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4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es-CO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8556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D2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93846D-FF04-45CD-B54C-8B0ED08465BD}" type="slidenum">
              <a:rPr lang="en-US" sz="1200" b="0" strike="noStrike" spc="-1">
                <a:solidFill>
                  <a:srgbClr val="D28888"/>
                </a:solidFill>
                <a:latin typeface="Calibri"/>
                <a:ea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buNone/>
            </a:pPr>
            <a:r>
              <a:rPr lang="es-CO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D2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65D4698-F35F-4A5D-9D11-211286D90B5E}" type="slidenum">
              <a:rPr lang="en-US" sz="1200" b="0" strike="noStrike" spc="-1">
                <a:solidFill>
                  <a:srgbClr val="D28888"/>
                </a:solidFill>
                <a:latin typeface="Calibri"/>
                <a:ea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41;p18"/>
          <p:cNvPicPr/>
          <p:nvPr/>
        </p:nvPicPr>
        <p:blipFill>
          <a:blip r:embed="rId4"/>
          <a:srcRect l="3997" t="-1262" r="1430" b="4010"/>
          <a:stretch/>
        </p:blipFill>
        <p:spPr>
          <a:xfrm>
            <a:off x="6095880" y="4999320"/>
            <a:ext cx="6095520" cy="1858320"/>
          </a:xfrm>
          <a:prstGeom prst="rect">
            <a:avLst/>
          </a:prstGeom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4448520" cy="148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3740"/>
          </a:bodyPr>
          <a:lstStyle/>
          <a:p>
            <a:pPr indent="0">
              <a:buNone/>
            </a:pPr>
            <a:r>
              <a:rPr lang="es-CO" sz="32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524280" y="457200"/>
            <a:ext cx="5312880" cy="491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4992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32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CO" sz="32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32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CO" sz="32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32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32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32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4448520" cy="331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CO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CO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D2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E6FABF3-F2CA-4BF4-8B7D-EC6AC2DB9B04}" type="slidenum">
              <a:rPr lang="en-US" sz="1200" b="0" strike="noStrike" spc="-1">
                <a:solidFill>
                  <a:srgbClr val="D28888"/>
                </a:solidFill>
                <a:latin typeface="Calibri"/>
                <a:ea typeface="Calibri"/>
              </a:rPr>
              <a:t>‹Nº›</a:t>
            </a:fld>
            <a:endParaRPr lang="es-CO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9;p19"/>
          <p:cNvPicPr/>
          <p:nvPr/>
        </p:nvPicPr>
        <p:blipFill>
          <a:blip r:embed="rId4"/>
          <a:srcRect l="-1433" t="-1262" r="1433" b="4010"/>
          <a:stretch/>
        </p:blipFill>
        <p:spPr>
          <a:xfrm>
            <a:off x="5745960" y="4999320"/>
            <a:ext cx="6445800" cy="185832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64880" y="1214280"/>
            <a:ext cx="6655680" cy="259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s-CO" sz="5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D2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E0512F3-0BB0-41DB-8D16-3E2C86C9F4D1}" type="slidenum">
              <a:rPr lang="en-US" sz="1200" b="0" strike="noStrike" spc="-1">
                <a:solidFill>
                  <a:srgbClr val="D28888"/>
                </a:solidFill>
                <a:latin typeface="Calibri"/>
                <a:ea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7265520" y="1208880"/>
            <a:ext cx="3210120" cy="3263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1111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57;p20"/>
          <p:cNvPicPr/>
          <p:nvPr/>
        </p:nvPicPr>
        <p:blipFill>
          <a:blip r:embed="rId4"/>
          <a:srcRect l="-1433" t="-1262" r="1433" b="4010"/>
          <a:stretch/>
        </p:blipFill>
        <p:spPr>
          <a:xfrm>
            <a:off x="5745960" y="4999320"/>
            <a:ext cx="6445800" cy="1858320"/>
          </a:xfrm>
          <a:prstGeom prst="rect">
            <a:avLst/>
          </a:prstGeom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1960" y="642600"/>
            <a:ext cx="10515240" cy="26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buNone/>
            </a:pPr>
            <a:r>
              <a:rPr lang="es-CO" sz="60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D2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EC46054-9822-41BF-9462-866F891E9021}" type="slidenum">
              <a:rPr lang="en-US" sz="1200" b="0" strike="noStrike" spc="-1">
                <a:solidFill>
                  <a:srgbClr val="D28888"/>
                </a:solidFill>
                <a:latin typeface="Calibri"/>
                <a:ea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831960" y="4287960"/>
            <a:ext cx="10515240" cy="122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37485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64;p21"/>
          <p:cNvPicPr/>
          <p:nvPr/>
        </p:nvPicPr>
        <p:blipFill>
          <a:blip r:embed="rId4"/>
          <a:srcRect l="-1433" t="-1262" r="1433" b="4010"/>
          <a:stretch/>
        </p:blipFill>
        <p:spPr>
          <a:xfrm>
            <a:off x="5745960" y="4999320"/>
            <a:ext cx="6445800" cy="185832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body"/>
          </p:nvPr>
        </p:nvSpPr>
        <p:spPr>
          <a:xfrm>
            <a:off x="838080" y="2199600"/>
            <a:ext cx="5181120" cy="327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5342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D2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BDFD550-4A5E-4A81-A73C-7FED8B6D5F17}" type="slidenum">
              <a:rPr lang="en-US" sz="1200" b="0" strike="noStrike" spc="-1">
                <a:solidFill>
                  <a:srgbClr val="D28888"/>
                </a:solidFill>
                <a:latin typeface="Calibri"/>
                <a:ea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es-CO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body"/>
          </p:nvPr>
        </p:nvSpPr>
        <p:spPr>
          <a:xfrm>
            <a:off x="6172200" y="2199600"/>
            <a:ext cx="5181120" cy="327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5342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72;p22"/>
          <p:cNvPicPr/>
          <p:nvPr/>
        </p:nvPicPr>
        <p:blipFill>
          <a:blip r:embed="rId4"/>
          <a:srcRect l="-1433" t="-1262" r="1433" b="4010"/>
          <a:stretch/>
        </p:blipFill>
        <p:spPr>
          <a:xfrm>
            <a:off x="5745960" y="4999320"/>
            <a:ext cx="6445800" cy="1858320"/>
          </a:xfrm>
          <a:prstGeom prst="rect">
            <a:avLst/>
          </a:prstGeom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D2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EF81E3-77B1-4FE0-9FDA-0C037B3118B3}" type="slidenum">
              <a:rPr lang="en-US" sz="1200" b="0" strike="noStrike" spc="-1">
                <a:solidFill>
                  <a:srgbClr val="D28888"/>
                </a:solidFill>
                <a:latin typeface="Calibri"/>
                <a:ea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3422"/>
          </a:bodyPr>
          <a:lstStyle/>
          <a:p>
            <a:pPr indent="0">
              <a:buNone/>
            </a:pPr>
            <a:r>
              <a:rPr lang="es-CO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78;p24"/>
          <p:cNvPicPr/>
          <p:nvPr/>
        </p:nvPicPr>
        <p:blipFill>
          <a:blip r:embed="rId4"/>
          <a:srcRect l="-5656" t="-1262" r="1489" b="4010"/>
          <a:stretch/>
        </p:blipFill>
        <p:spPr>
          <a:xfrm>
            <a:off x="5745960" y="4999320"/>
            <a:ext cx="6445800" cy="1858320"/>
          </a:xfrm>
          <a:prstGeom prst="rect">
            <a:avLst/>
          </a:prstGeom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body"/>
          </p:nvPr>
        </p:nvSpPr>
        <p:spPr>
          <a:xfrm>
            <a:off x="7364520" y="975240"/>
            <a:ext cx="3780720" cy="381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5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8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CO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CO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67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68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D2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7FEBD98-6EC3-4A80-99BD-05291FBE11C1}" type="slidenum">
              <a:rPr lang="en-US" sz="1200" b="0" strike="noStrike" spc="-1">
                <a:solidFill>
                  <a:srgbClr val="D28888"/>
                </a:solidFill>
                <a:latin typeface="Calibri"/>
                <a:ea typeface="Calibri"/>
              </a:rPr>
              <a:t>‹Nº›</a:t>
            </a:fld>
            <a:endParaRPr lang="es-CO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title"/>
          </p:nvPr>
        </p:nvSpPr>
        <p:spPr>
          <a:xfrm>
            <a:off x="839880" y="457200"/>
            <a:ext cx="4448520" cy="148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3740"/>
          </a:bodyPr>
          <a:lstStyle/>
          <a:p>
            <a:pPr indent="0">
              <a:buNone/>
            </a:pPr>
            <a:r>
              <a:rPr lang="es-CO" sz="32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70" name="PlaceHolder 6"/>
          <p:cNvSpPr>
            <a:spLocks noGrp="1"/>
          </p:cNvSpPr>
          <p:nvPr>
            <p:ph type="body"/>
          </p:nvPr>
        </p:nvSpPr>
        <p:spPr>
          <a:xfrm>
            <a:off x="839880" y="2057400"/>
            <a:ext cx="4448520" cy="331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O" sz="16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532800" y="4700520"/>
            <a:ext cx="6480360" cy="142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endParaRPr lang="es-CO" sz="32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Marcador de posición de imagen 2"/>
          <p:cNvPicPr/>
          <p:nvPr/>
        </p:nvPicPr>
        <p:blipFill>
          <a:blip r:embed="rId2"/>
          <a:srcRect l="918" r="918"/>
          <a:stretch/>
        </p:blipFill>
        <p:spPr>
          <a:xfrm>
            <a:off x="7265520" y="1208880"/>
            <a:ext cx="3210120" cy="3263400"/>
          </a:xfrm>
          <a:prstGeom prst="rect">
            <a:avLst/>
          </a:prstGeom>
          <a:ln w="0">
            <a:noFill/>
          </a:ln>
        </p:spPr>
      </p:pic>
      <p:pic>
        <p:nvPicPr>
          <p:cNvPr id="74" name="Imagen 6"/>
          <p:cNvPicPr/>
          <p:nvPr/>
        </p:nvPicPr>
        <p:blipFill>
          <a:blip r:embed="rId3"/>
          <a:stretch/>
        </p:blipFill>
        <p:spPr>
          <a:xfrm>
            <a:off x="7013520" y="1071000"/>
            <a:ext cx="3644280" cy="3629520"/>
          </a:xfrm>
          <a:prstGeom prst="rect">
            <a:avLst/>
          </a:prstGeom>
          <a:ln w="0">
            <a:noFill/>
          </a:ln>
        </p:spPr>
      </p:pic>
      <p:sp>
        <p:nvSpPr>
          <p:cNvPr id="2" name="Shape 3">
            <a:extLst>
              <a:ext uri="{FF2B5EF4-FFF2-40B4-BE49-F238E27FC236}">
                <a16:creationId xmlns:a16="http://schemas.microsoft.com/office/drawing/2014/main" id="{BDDF783D-F188-24BD-E2B9-3006EA9743D5}"/>
              </a:ext>
            </a:extLst>
          </p:cNvPr>
          <p:cNvSpPr/>
          <p:nvPr/>
        </p:nvSpPr>
        <p:spPr>
          <a:xfrm>
            <a:off x="7223760" y="365760"/>
            <a:ext cx="2011680" cy="20116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DB3268C-3556-EA14-2E3C-FF270F3CA573}"/>
              </a:ext>
            </a:extLst>
          </p:cNvPr>
          <p:cNvSpPr/>
          <p:nvPr/>
        </p:nvSpPr>
        <p:spPr>
          <a:xfrm>
            <a:off x="539496" y="5193792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MSC. Alexander Yela Reyes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– Arquitecto de Datos</a:t>
            </a:r>
          </a:p>
          <a:p>
            <a:pPr marL="0" indent="0">
              <a:buNone/>
            </a:pPr>
            <a:r>
              <a:rPr lang="en-US" sz="1800" i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www.moreti.co</a:t>
            </a:r>
            <a:endParaRPr lang="en-US" sz="1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295A2CFA-6D99-A677-B9B7-BAC4F4C8FB3F}"/>
              </a:ext>
            </a:extLst>
          </p:cNvPr>
          <p:cNvSpPr txBox="1"/>
          <p:nvPr/>
        </p:nvSpPr>
        <p:spPr>
          <a:xfrm>
            <a:off x="417240" y="685512"/>
            <a:ext cx="10058400" cy="3054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Administración de </a:t>
            </a:r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</a:t>
            </a:r>
            <a:endParaRPr lang="en-US" sz="4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Concepto y definición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09397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093976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Objetivos de la administración de bases de datos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49631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496312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Funciones del administrador de bases de datos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89864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898648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Ciclo de gestión de la información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30098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300984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Estadísticas e índices: mantenimiento técnico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70332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703320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Respaldos y optimización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410565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105656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Parámetros de configuración y cuellos de botella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45936" y="169164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48856" y="1691640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Comparativa de motores de bases de datos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45936" y="209397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48856" y="2093976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Justificación: por qué debe realizarse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45936" y="249631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48856" y="2496312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Beneficios de una administración adecuada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45936" y="289864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48856" y="2898648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Riesgos de la ausencia de administración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45936" y="330098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48856" y="3300984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Análisis comparativo (con / sin administración)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45936" y="370332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48856" y="3703320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45936" y="410565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48856" y="4105656"/>
            <a:ext cx="47228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Referencias bibliográficas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E4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y definición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administración de bases de datos (Database Administration) es la disciplina encargada de planificar, implementar, controlar y mantener los sistemas de gestión de bases de datos (DBMS) que soportan las operaciones de una organización. Comprende un conjunto de actividades técnicas y normativas orientadas a preservar la integridad, la seguridad y la disponibilidad de la información a lo largo de su ciclo de vida.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principales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1248" y="3922776"/>
            <a:ext cx="73152" cy="73152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97280" y="37947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Combina competencias técnicas, organizativas y normativas.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4453128"/>
            <a:ext cx="73152" cy="73152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97280" y="4325112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Abarca todo el ciclo de vida del dato: creación, almacenamiento, uso, resguardo y disposición final.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4983480"/>
            <a:ext cx="73152" cy="73152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097280" y="4855464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 ejercida formalmente por un profesional denominado administrador de bases de datos (DBA).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5513832"/>
            <a:ext cx="73152" cy="73152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097280" y="5385816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Constituye una función continua, no un procedimiento aislado o esporádico.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E4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la administración de bases de datos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Garantizar la integridad y la consistencia de los datos almacenados.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350008"/>
            <a:ext cx="10543032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22960" y="244144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441448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Asegurar la disponibilidad continua de la información para los procesos institucionales.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008376"/>
            <a:ext cx="10543032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22960" y="309981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099816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Proteger los datos frente a accesos no autorizados, pérdidas o alteraciones indebidas.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666744"/>
            <a:ext cx="10543032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22960" y="375818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758184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Optimizar el rendimiento de las consultas y el uso de los recursos de almacenamiento.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25112"/>
            <a:ext cx="10543032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22960" y="441655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4165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Cumplir con la normativa vigente en materia de protección y tratamiento de datos.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983480"/>
            <a:ext cx="10543032" cy="0"/>
          </a:xfrm>
          <a:prstGeom prst="line">
            <a:avLst/>
          </a:prstGeom>
          <a:noFill/>
          <a:ln w="6350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22960" y="507492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5074920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Planificar e implementar estrategias de respaldo y recuperación ante desastres.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E4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del administrador de bases de datos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822960" y="1737360"/>
          <a:ext cx="10543032" cy="435254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1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Función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Descripción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Instalación y configuración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Selección, instalación y parametrización del motor de base de datos.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Diseño y modelado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Definición de la estructura lógica y física de los datos.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Seguridad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Gestión de usuarios, roles, permisos y cifrado de información sensible.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Monitoreo y ajuste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Supervisión del rendimiento y optimización de consultas e índices.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Respaldo y recuperación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Ejecución de copias de seguridad y pruebas periódicas de restauración.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Mantenimiento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Actualizaciones, depuración y control de la integridad referencial.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E4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gestión de la información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32688" y="3090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Planificación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06040" y="3497580"/>
            <a:ext cx="406908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012948" y="301752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122676" y="3090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4388" y="331012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Diseño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96028" y="3497580"/>
            <a:ext cx="406908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202936" y="301752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312664" y="3090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94376" y="331012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Implementación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86016" y="3497580"/>
            <a:ext cx="406908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392924" y="301752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502652" y="3090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84364" y="331012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Operación y mantenimiento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76004" y="3497580"/>
            <a:ext cx="406908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582912" y="3017520"/>
            <a:ext cx="1783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692640" y="3090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74352" y="331012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Evaluación y mejora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714500" y="4434840"/>
            <a:ext cx="8759952" cy="0"/>
          </a:xfrm>
          <a:prstGeom prst="line">
            <a:avLst/>
          </a:prstGeom>
          <a:noFill/>
          <a:ln w="12700">
            <a:solidFill>
              <a:srgbClr val="5B6472"/>
            </a:solidFill>
            <a:prstDash val="dash"/>
            <a:head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822960" y="461772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 ciclo se reinicia de forma continua a partir de la evaluación de resultados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169164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administración de bases de datos no constituye un procedimiento único, sino un proceso cíclico y permanente que acompaña la evolución de los sistemas de información institucionales.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E4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Estadísticas e índices: mantenimiento técnico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Dos de las tareas periódicas más determinantes para el rendimiento son la actualización de estadísticas y el mantenimiento de índices; ambas inciden directamente en la calidad de los planes de ejecución del optimizador de consultas.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22960" y="2514600"/>
          <a:ext cx="10543032" cy="28346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2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2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Motor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Actualización de estadísticas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Reconstrucción / reorganización de índices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SQL Server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UPDATE STATISTICS / sp_updatestats (auto stats)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ALTER INDEX … REBUILD / REORGANIZE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PostgreSQL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ANALYZE (ejecutado por autovacuum)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REINDEX; VACUUM para reducir el bloat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MySQL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ANALYZE TABLE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OPTIMIZE TABLE / ALTER TABLE … ENGINE=InnoDB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Oracle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DBMS_STATS.GATHER_TABLE_STATS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ALTER INDEX … REBUILD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553212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 estadísticas desactualizadas y los índices fragmentados son causas frecuentes de degradación progresiva del rendimiento, incluso cuando el diseño original de la base de datos es adecuado.</a:t>
            </a:r>
            <a:endParaRPr lang="en-US" sz="1150" dirty="0"/>
          </a:p>
        </p:txBody>
      </p:sp>
      <p:sp>
        <p:nvSpPr>
          <p:cNvPr id="6" name="Shape 5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E4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Respaldos y optimización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Estrategias de respaldo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2176272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78992" y="2048256"/>
            <a:ext cx="47228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Respaldo completo (full): copia íntegra de la base de datos en un punto en el tiempo.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41248" y="2834640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78992" y="2706624"/>
            <a:ext cx="47228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Respaldo diferencial: captura los cambios ocurridos desde el último respaldo completo.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3493008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78992" y="3364992"/>
            <a:ext cx="47228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Respaldo incremental: registra únicamente los cambios desde el último respaldo, de cualquier tipo.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4151376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078992" y="4023360"/>
            <a:ext cx="47228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Respaldo de registro de transacciones (log): permite la recuperación hasta un instante específico.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" y="4809744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078992" y="4681728"/>
            <a:ext cx="47228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Definición de RPO (pérdida de datos admisible) y RTO (tiempo de recuperación admisible).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94476" y="1691640"/>
            <a:ext cx="0" cy="420624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368796" y="169164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optimización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87084" y="2176272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624828" y="2048256"/>
            <a:ext cx="47228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Ajuste de consultas (query tuning) y revisión de planes de ejecución.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87084" y="2834640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624828" y="2706624"/>
            <a:ext cx="47228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Diseño y uso adecuado de índices según los patrones de acceso.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87084" y="3493008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624828" y="3364992"/>
            <a:ext cx="47228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Particionamiento de tablas de gran volumen para acelerar el acceso.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87084" y="4151376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624828" y="4023360"/>
            <a:ext cx="47228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Actualización periódica de estadísticas para el optimizador.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87084" y="4809744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624828" y="4681728"/>
            <a:ext cx="47228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Ajuste de memoria, caché y paralelismo según la carga de trabajo.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E4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de configuración y cuellos de botella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revisión periódica de los parámetros de configuración —memoria, conexiones, paralelismo y tamaño de los archivos de registro— permite anticipar cuellos de botella antes de que afecten la operación.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Cuello de botella (bottleneck)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86207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Recurso que limita el rendimiento global del sistema: CPU, memoria, entrada/salida de disco, red o bloqueos concurrentes.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Esperas (waits)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Tiempo que una sesión permanece a la espera de que se libere un recurso; su análisis es central para diagnosticar el origen real de un problema de rendimiento.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2514600"/>
            <a:ext cx="0" cy="356616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217920" y="2514600"/>
            <a:ext cx="5148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diagnóstico por motor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17920" y="2971800"/>
            <a:ext cx="5148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3227832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sys.dm_os_wait_stats, sys.dm_exec_requests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0" y="3630168"/>
            <a:ext cx="5148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3886200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pg_stat_activity (wait_event_type), pg_locks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0" y="4288536"/>
            <a:ext cx="5148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MySQL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4544568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performance_schema, SHOW ENGINE INNODB STATUS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17920" y="4946904"/>
            <a:ext cx="5148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Oracle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5202936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V$SESSION_WAIT, V$SYSTEM_EVENT, informes AWR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E4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de motores de bases de datos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822960" y="1645920"/>
          <a:ext cx="10543032" cy="460857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Dimensión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SQL Server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PostgreSQL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MySQL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Oracle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Licenciamiento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Propietario (Microsoft)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Código abierto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Abierto / Enterprise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Propietario (Oracle)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Respaldo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BACKUP DATABASE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pg_dump / pg_basebackup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mysqldump / XtraBackup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RMAN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Estadísticas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UPDATE STATISTICS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ANALYZE (autovacuum)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ANALYZE TABLE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DBMS_STATS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Índices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ALTER INDEX REBUILD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REINDEX / VACUUM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OPTIMIZE TABLE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ALTER INDEX REBUILD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Diagnóstico de esperas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DMVs (dm_os_wait_stats)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pg_stat_activity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performance_schema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AWR / V$SESSION_WAIT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Uso típico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Entornos Windows / .NET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Web y datos geoespaciales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Aplicaciones web (LAMP)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Sistemas críticos a gran escala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E9B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273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Justificación: ¿por qué debe realizarse?</a:t>
            </a:r>
            <a:endParaRPr lang="en-US" sz="27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i="1" dirty="0">
                <a:solidFill>
                  <a:schemeClr val="bg2">
                    <a:lumMod val="1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 volumen y la complejidad de los datos gestionados por las organizaciones contemporáneas convierten a la administración formal de bases de datos en una condición necesaria —y no opcional— para el funcionamiento adecuado de los sistemas de información.</a:t>
            </a:r>
            <a:endParaRPr lang="en-US" sz="14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43032" cy="713232"/>
          </a:xfrm>
          <a:prstGeom prst="roundRect">
            <a:avLst>
              <a:gd name="adj" fmla="val 6410"/>
            </a:avLst>
          </a:prstGeom>
          <a:solidFill>
            <a:srgbClr val="141B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86207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Crecimiento del volumen de datos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49240" y="2862072"/>
            <a:ext cx="5833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3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 incremento sostenido de la información generada exige mecanismos de control y organización.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593592"/>
            <a:ext cx="10543032" cy="713232"/>
          </a:xfrm>
          <a:prstGeom prst="roundRect">
            <a:avLst>
              <a:gd name="adj" fmla="val 6410"/>
            </a:avLst>
          </a:prstGeom>
          <a:solidFill>
            <a:srgbClr val="141B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60120" y="3593592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66674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Dependencia de la toma de decisiones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3666744"/>
            <a:ext cx="5833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3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 procesos estratégicos y operativos dependen de datos disponibles y confiables.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398264"/>
            <a:ext cx="10543032" cy="713232"/>
          </a:xfrm>
          <a:prstGeom prst="roundRect">
            <a:avLst>
              <a:gd name="adj" fmla="val 6410"/>
            </a:avLst>
          </a:prstGeom>
          <a:solidFill>
            <a:srgbClr val="141B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60120" y="4398264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447141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Exigencias normativas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4471416"/>
            <a:ext cx="5833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3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 leyes de protección de datos personales imponen obligaciones de trazabilidad y resguardo.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5202936"/>
            <a:ext cx="10543032" cy="713232"/>
          </a:xfrm>
          <a:prstGeom prst="roundRect">
            <a:avLst>
              <a:gd name="adj" fmla="val 6410"/>
            </a:avLst>
          </a:prstGeom>
          <a:solidFill>
            <a:srgbClr val="141B3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60120" y="5202936"/>
            <a:ext cx="457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527608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Continuidad operativa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5276088"/>
            <a:ext cx="5833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3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 fallos técnicos no gestionados comprometen la operación institucional.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3B45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6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6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E4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de una administración adecuada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822960" y="1737360"/>
          <a:ext cx="10543032" cy="4352544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Beneficio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Descripción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Integridad de los datos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Información precisa, consistente y libre de duplicidades.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Seguridad de la información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Reducción de accesos no autorizados y de filtraciones de datos.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Disponibilidad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Acceso continuo a los sistemas con mínimas interrupciones.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Rendimiento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Consultas más eficientes y mejor aprovechamiento de los recursos.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Recuperación ante desastres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Restauración confiable de la información frente a fallos.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Reducción de costos operativos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Menor incidencia de fallos y de tiempos de inactividad.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E4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de la ausencia de administración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822960" y="1737360"/>
          <a:ext cx="10543032" cy="4352544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Problema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Consecuencia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7A1F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Ausencia de respaldos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Pérdida irreversible de información crítica.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7A1F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Falta de control de acceso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Exposición a vulneraciones de seguridad.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7A1F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Consultas no optimizadas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Degradación del rendimiento del sistema.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7A1F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Datos inconsistentes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Errores en la toma de decisiones institucionales.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7A1F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Incumplimiento normativo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Sanciones legales y económicas para la organización.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7A1F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Interrupciones prolongadas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Pérdida de confianza y de productividad.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E4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comparativo (con / sin administración)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822960" y="1737360"/>
          <a:ext cx="10543032" cy="43525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9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9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Dimensión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 administración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 administración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Integridad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Datos consistentes y confiables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Duplicidad y errores frecuentes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Seguridad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Accesos controlados y auditados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Exposición a vulneraciones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Disponibilidad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Continuidad operativa garantizada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Interrupciones recurrentes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Rendimiento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Consultas optimizadas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Degradación progresiva del sistema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Cumplimiento normativo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Trazabilidad y resguardo documentado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Riesgo de sanciones legales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Costos operativos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Previsibles y controlados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Elevados por incidentes y pérdidas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E9B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273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7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430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chemeClr val="bg2">
                    <a:lumMod val="1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administración de bases de datos constituye una función estratégica y permanente para cualquier organización que dependa de información digital para operar. No se trata de una tarea técnica aislada, sino de un proceso continuo que condiciona la integridad, la seguridad y la disponibilidad de uno de los activos más valiosos de la organización: sus datos.</a:t>
            </a:r>
            <a:endParaRPr lang="en-US" sz="14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3246120"/>
            <a:ext cx="9948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bg2">
                    <a:lumMod val="1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 ausencia genera riesgos que superan ampliamente el costo de implementarla.</a:t>
            </a:r>
            <a:endParaRPr lang="en-US" sz="13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9044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904488"/>
            <a:ext cx="9948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bg2">
                    <a:lumMod val="1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 beneficios se traducen directamente en continuidad operativa y confianza institucional.</a:t>
            </a:r>
            <a:endParaRPr lang="en-US" sz="13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5628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4562856"/>
            <a:ext cx="9948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bg2">
                    <a:lumMod val="10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Debe entenderse como un proceso cíclico, sujeto a mejora y actualización constantes.</a:t>
            </a:r>
            <a:endParaRPr lang="en-US" sz="135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3B456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6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6C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A1F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5832" y="137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E4E6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bibliográficas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41248" y="1773936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Coronel, C., &amp; Morris, S. (2019). Database Systems: Design, Implementation, and Management (13.ª ed.). Cengage Learning.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" y="2340864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097280" y="2212848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Date, C. J. (2004). An Introduction to Database Systems (8.ª ed.). Addison-Wesley.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2907792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97280" y="2779776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Elmasri, R., &amp; Navathe, S. (2017). Fundamentals of Database Systems (7.ª ed.). Pearson.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3474720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097280" y="3346704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Silberschatz, A., Korth, H. F., &amp; Sudarshan, S. (2020). Database System Concepts (7.ª ed.). McGraw-Hill.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041648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97280" y="3913632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Microsoft. (2024). Documentación de SQL Server. Microsoft Learn.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" y="4608576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097280" y="44805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Global Development Group. (2024). PostgreSQL Documentation.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" y="5175504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97280" y="5047488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Oracle Corporation. (2024). Oracle Database Documentation.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41248" y="5742432"/>
            <a:ext cx="64008" cy="64008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Oracle Corporation. (2024). MySQL 8.0 Reference Manual.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2296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Administración de Bases de Datos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817352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26;p13"/>
          <p:cNvSpPr/>
          <p:nvPr/>
        </p:nvSpPr>
        <p:spPr>
          <a:xfrm>
            <a:off x="7350840" y="5379840"/>
            <a:ext cx="4840920" cy="1477800"/>
          </a:xfrm>
          <a:prstGeom prst="rect">
            <a:avLst/>
          </a:prstGeom>
          <a:solidFill>
            <a:schemeClr val="lt1"/>
          </a:solidFill>
          <a:ln w="1270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CO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225080" y="2376720"/>
            <a:ext cx="3848040" cy="148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chemeClr val="lt1"/>
                </a:solidFill>
                <a:latin typeface="Arial"/>
                <a:ea typeface="Arial"/>
              </a:rPr>
              <a:t>Para información adicional: </a:t>
            </a:r>
            <a:endParaRPr lang="es-CO" sz="44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Google Shape;128;p13"/>
          <p:cNvPicPr/>
          <p:nvPr/>
        </p:nvPicPr>
        <p:blipFill>
          <a:blip r:embed="rId2"/>
          <a:stretch/>
        </p:blipFill>
        <p:spPr>
          <a:xfrm>
            <a:off x="7185960" y="357840"/>
            <a:ext cx="3413880" cy="5520240"/>
          </a:xfrm>
          <a:prstGeom prst="rect">
            <a:avLst/>
          </a:prstGeom>
          <a:ln w="0">
            <a:noFill/>
          </a:ln>
        </p:spPr>
      </p:pic>
      <p:pic>
        <p:nvPicPr>
          <p:cNvPr id="81" name="Google Shape;129;p13"/>
          <p:cNvPicPr/>
          <p:nvPr/>
        </p:nvPicPr>
        <p:blipFill>
          <a:blip r:embed="rId3"/>
          <a:stretch/>
        </p:blipFill>
        <p:spPr>
          <a:xfrm>
            <a:off x="2600280" y="357840"/>
            <a:ext cx="1097640" cy="1788840"/>
          </a:xfrm>
          <a:prstGeom prst="rect">
            <a:avLst/>
          </a:prstGeom>
          <a:ln w="0">
            <a:noFill/>
          </a:ln>
        </p:spPr>
      </p:pic>
      <p:sp>
        <p:nvSpPr>
          <p:cNvPr id="82" name="Google Shape;130;p13"/>
          <p:cNvSpPr/>
          <p:nvPr/>
        </p:nvSpPr>
        <p:spPr>
          <a:xfrm>
            <a:off x="962640" y="5262480"/>
            <a:ext cx="4606056" cy="4001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spc="-1" dirty="0">
                <a:solidFill>
                  <a:schemeClr val="lt1"/>
                </a:solidFill>
                <a:latin typeface="Arial"/>
                <a:ea typeface="Arial"/>
              </a:rPr>
              <a:t>Alexander.yela@correounivalle.edu.co</a:t>
            </a:r>
            <a:r>
              <a:rPr lang="en-US" sz="2000" b="0" strike="noStrike" spc="-1" dirty="0">
                <a:solidFill>
                  <a:schemeClr val="lt1"/>
                </a:solidFill>
                <a:latin typeface="Arial"/>
                <a:ea typeface="Arial"/>
              </a:rPr>
              <a:t> </a:t>
            </a:r>
            <a:endParaRPr lang="es-CO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name="Presentació Solo Logo Univalle">
  <a:themeElements>
    <a:clrScheme name="Personalizado 2">
      <a:dk1>
        <a:srgbClr val="C00000"/>
      </a:dk1>
      <a:lt1>
        <a:srgbClr val="FFFFFF"/>
      </a:lt1>
      <a:dk2>
        <a:srgbClr val="C00000"/>
      </a:dk2>
      <a:lt2>
        <a:srgbClr val="F2F2F2"/>
      </a:lt2>
      <a:accent1>
        <a:srgbClr val="7030A0"/>
      </a:accent1>
      <a:accent2>
        <a:srgbClr val="FF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B0F0"/>
      </a:hlink>
      <a:folHlink>
        <a:srgbClr val="7030A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esentació Solo Logo Univalle">
  <a:themeElements>
    <a:clrScheme name="Personalizado 2">
      <a:dk1>
        <a:srgbClr val="C00000"/>
      </a:dk1>
      <a:lt1>
        <a:srgbClr val="FFFFFF"/>
      </a:lt1>
      <a:dk2>
        <a:srgbClr val="C00000"/>
      </a:dk2>
      <a:lt2>
        <a:srgbClr val="F2F2F2"/>
      </a:lt2>
      <a:accent1>
        <a:srgbClr val="7030A0"/>
      </a:accent1>
      <a:accent2>
        <a:srgbClr val="FF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B0F0"/>
      </a:hlink>
      <a:folHlink>
        <a:srgbClr val="7030A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ció Solo Logo Univalle">
  <a:themeElements>
    <a:clrScheme name="Personalizado 2">
      <a:dk1>
        <a:srgbClr val="C00000"/>
      </a:dk1>
      <a:lt1>
        <a:srgbClr val="FFFFFF"/>
      </a:lt1>
      <a:dk2>
        <a:srgbClr val="C00000"/>
      </a:dk2>
      <a:lt2>
        <a:srgbClr val="F2F2F2"/>
      </a:lt2>
      <a:accent1>
        <a:srgbClr val="7030A0"/>
      </a:accent1>
      <a:accent2>
        <a:srgbClr val="FF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B0F0"/>
      </a:hlink>
      <a:folHlink>
        <a:srgbClr val="7030A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Presentació Solo Logo Univalle">
  <a:themeElements>
    <a:clrScheme name="Personalizado 2">
      <a:dk1>
        <a:srgbClr val="C00000"/>
      </a:dk1>
      <a:lt1>
        <a:srgbClr val="FFFFFF"/>
      </a:lt1>
      <a:dk2>
        <a:srgbClr val="C00000"/>
      </a:dk2>
      <a:lt2>
        <a:srgbClr val="F2F2F2"/>
      </a:lt2>
      <a:accent1>
        <a:srgbClr val="7030A0"/>
      </a:accent1>
      <a:accent2>
        <a:srgbClr val="FF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B0F0"/>
      </a:hlink>
      <a:folHlink>
        <a:srgbClr val="7030A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Presentació Solo Logo Univalle">
  <a:themeElements>
    <a:clrScheme name="Personalizado 2">
      <a:dk1>
        <a:srgbClr val="C00000"/>
      </a:dk1>
      <a:lt1>
        <a:srgbClr val="FFFFFF"/>
      </a:lt1>
      <a:dk2>
        <a:srgbClr val="C00000"/>
      </a:dk2>
      <a:lt2>
        <a:srgbClr val="F2F2F2"/>
      </a:lt2>
      <a:accent1>
        <a:srgbClr val="7030A0"/>
      </a:accent1>
      <a:accent2>
        <a:srgbClr val="FF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B0F0"/>
      </a:hlink>
      <a:folHlink>
        <a:srgbClr val="7030A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Presentació Solo Logo Univalle">
  <a:themeElements>
    <a:clrScheme name="Personalizado 2">
      <a:dk1>
        <a:srgbClr val="C00000"/>
      </a:dk1>
      <a:lt1>
        <a:srgbClr val="FFFFFF"/>
      </a:lt1>
      <a:dk2>
        <a:srgbClr val="C00000"/>
      </a:dk2>
      <a:lt2>
        <a:srgbClr val="F2F2F2"/>
      </a:lt2>
      <a:accent1>
        <a:srgbClr val="7030A0"/>
      </a:accent1>
      <a:accent2>
        <a:srgbClr val="FF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B0F0"/>
      </a:hlink>
      <a:folHlink>
        <a:srgbClr val="7030A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Presentació Solo Logo Univalle">
  <a:themeElements>
    <a:clrScheme name="Personalizado 2">
      <a:dk1>
        <a:srgbClr val="C00000"/>
      </a:dk1>
      <a:lt1>
        <a:srgbClr val="FFFFFF"/>
      </a:lt1>
      <a:dk2>
        <a:srgbClr val="C00000"/>
      </a:dk2>
      <a:lt2>
        <a:srgbClr val="F2F2F2"/>
      </a:lt2>
      <a:accent1>
        <a:srgbClr val="7030A0"/>
      </a:accent1>
      <a:accent2>
        <a:srgbClr val="FF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B0F0"/>
      </a:hlink>
      <a:folHlink>
        <a:srgbClr val="7030A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Presentació Solo Logo Univalle">
  <a:themeElements>
    <a:clrScheme name="Personalizado 2">
      <a:dk1>
        <a:srgbClr val="C00000"/>
      </a:dk1>
      <a:lt1>
        <a:srgbClr val="FFFFFF"/>
      </a:lt1>
      <a:dk2>
        <a:srgbClr val="C00000"/>
      </a:dk2>
      <a:lt2>
        <a:srgbClr val="F2F2F2"/>
      </a:lt2>
      <a:accent1>
        <a:srgbClr val="7030A0"/>
      </a:accent1>
      <a:accent2>
        <a:srgbClr val="FF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B0F0"/>
      </a:hlink>
      <a:folHlink>
        <a:srgbClr val="7030A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Presentació Solo Logo Univalle">
  <a:themeElements>
    <a:clrScheme name="Personalizado 2">
      <a:dk1>
        <a:srgbClr val="C00000"/>
      </a:dk1>
      <a:lt1>
        <a:srgbClr val="FFFFFF"/>
      </a:lt1>
      <a:dk2>
        <a:srgbClr val="C00000"/>
      </a:dk2>
      <a:lt2>
        <a:srgbClr val="F2F2F2"/>
      </a:lt2>
      <a:accent1>
        <a:srgbClr val="7030A0"/>
      </a:accent1>
      <a:accent2>
        <a:srgbClr val="FF00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B0F0"/>
      </a:hlink>
      <a:folHlink>
        <a:srgbClr val="7030A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1843</Words>
  <Application>Microsoft Office PowerPoint</Application>
  <PresentationFormat>Panorámica</PresentationFormat>
  <Paragraphs>322</Paragraphs>
  <Slides>17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9</vt:i4>
      </vt:variant>
      <vt:variant>
        <vt:lpstr>Títulos de diapositiva</vt:lpstr>
      </vt:variant>
      <vt:variant>
        <vt:i4>17</vt:i4>
      </vt:variant>
    </vt:vector>
  </HeadingPairs>
  <TitlesOfParts>
    <vt:vector size="33" baseType="lpstr">
      <vt:lpstr>Aptos</vt:lpstr>
      <vt:lpstr>Arial</vt:lpstr>
      <vt:lpstr>Calibri</vt:lpstr>
      <vt:lpstr>Cambria</vt:lpstr>
      <vt:lpstr>Symbol</vt:lpstr>
      <vt:lpstr>Times New Roman</vt:lpstr>
      <vt:lpstr>Wingdings</vt:lpstr>
      <vt:lpstr>Presentació Solo Logo Univalle</vt:lpstr>
      <vt:lpstr>Presentació Solo Logo Univalle</vt:lpstr>
      <vt:lpstr>Presentació Solo Logo Univalle</vt:lpstr>
      <vt:lpstr>Presentació Solo Logo Univalle</vt:lpstr>
      <vt:lpstr>Presentació Solo Logo Univalle</vt:lpstr>
      <vt:lpstr>Presentació Solo Logo Univalle</vt:lpstr>
      <vt:lpstr>Presentació Solo Logo Univalle</vt:lpstr>
      <vt:lpstr>Presentació Solo Logo Univalle</vt:lpstr>
      <vt:lpstr>Presentació Solo Logo Univalle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Para información adicional: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MODIFICACIÓN CUPOS DE REGISTRO CALIFICADO</dc:title>
  <dc:subject/>
  <dc:creator>Juan Esteban López Lozano</dc:creator>
  <dc:description/>
  <cp:lastModifiedBy>Alexander Yela</cp:lastModifiedBy>
  <cp:revision>18</cp:revision>
  <dcterms:created xsi:type="dcterms:W3CDTF">2023-08-01T19:04:09Z</dcterms:created>
  <dcterms:modified xsi:type="dcterms:W3CDTF">2026-08-27T22:00:27Z</dcterms:modified>
  <dc:language>es-CO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Panorámica</vt:lpwstr>
  </property>
  <property fmtid="{D5CDD505-2E9C-101B-9397-08002B2CF9AE}" pid="4" name="Slides">
    <vt:i4>5</vt:i4>
  </property>
</Properties>
</file>
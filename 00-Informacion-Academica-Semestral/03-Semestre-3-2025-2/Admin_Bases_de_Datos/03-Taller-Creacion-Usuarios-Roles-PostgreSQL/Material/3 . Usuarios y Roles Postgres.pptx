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0" r:id="rId4"/>
    <p:sldId id="274" r:id="rId5"/>
    <p:sldId id="271" r:id="rId6"/>
    <p:sldId id="272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>
        <p:scale>
          <a:sx n="126" d="100"/>
          <a:sy n="126" d="100"/>
        </p:scale>
        <p:origin x="1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5C24-656E-5377-439A-1D830FEA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5C2E8-32EA-A815-1085-D10B6DA1C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CF63-2D1C-A660-21D9-6A863843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49CC1-4789-4E99-C5B7-59998C5A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BB61-76CA-990F-1293-D8822E66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8457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9051-FC0B-1628-8CA1-207EF939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C027-49AC-8BFA-0055-2E266315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D81BA-4493-387F-F3FE-C706FE65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89237-8AFD-84BA-6384-35591AE3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E8B6-EFF2-A4A5-29C2-596D7C6F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52282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1A03-AD7F-C624-6465-EC8E8007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582B0-7920-02C1-8AAF-2BFCF007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49D5-A1D7-4534-36D8-2B8267E1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3DBC-AA3A-FBCA-C730-F8099CD0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8847A-AD1C-EE28-75F0-CF8DE838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17130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63A3-F682-354D-68E0-33C27303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F3583-E730-90E5-77C8-3B14542D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020E6-91AE-C5C5-4EC8-468BA051B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8B59-4329-5C57-B481-10FB8720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C30C1-24EB-75DC-5E32-C11063F9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B0769-7DA3-9245-6DAA-E9CCA95C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1422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29B0-B3E2-738E-4D1E-9E295D4C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8EABC-D219-7930-4348-313A06233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AF55B-400B-E8B4-232B-AA28C0E47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E0A32-C9C9-254D-4B40-B8763B233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096ED-6116-CDE8-3D75-7DC9E6E26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36619-F652-0879-0D87-DA42D9AC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31550-0E8B-0F15-BBF8-FD2F56BF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4E732-9A6C-5682-9262-78A62AF3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1837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88C1-44EE-33CF-B50A-B78F2BC4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CF014-8E3B-D373-9B26-9D8E783A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62A6A-3307-D7BB-3D15-5A64B4F1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D18DD-50BE-884D-0788-D63EC946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079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3A65C-6989-17DA-FE21-DA1FC8C5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38C08-FD94-9F72-748B-4B9A55BE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CF100-69CB-605E-ECAD-E5E7CF9B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1628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97D1-1B00-A0B7-5675-72018175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51A6-93B8-893D-388A-9C49520C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6C372-423A-04D6-C14C-A8CCCCBEF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8418D-11DC-A4AC-EBFE-DC78E5E1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2256F-856E-3C30-C819-968063C3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D738-3B90-7AB0-E07C-F08A7DFA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7517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9A86-2D6B-90A7-639A-3136E5A4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4AE71-0686-383B-D653-C0ADAF7D0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AFACD-08EC-5869-FC9C-A5CD531C7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06D1C-0247-19B0-FC7F-01C8AA5F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5455E-67D2-7D8E-72F2-2F5172C9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F8503-54D5-A752-B97B-4068750E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5167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E468-0979-9C88-4A59-3A079A73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A81EE-E8B5-B1E5-F55F-824B5223A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00BA-C089-A023-D0AC-C8D8923A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BE6E6-4133-FEE4-2617-2E9D534C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E318-9D9B-2598-FB09-8D80E954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7303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47B5B-9BF2-E8F7-9D9B-602DAD09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9D1E4-FE55-056F-473F-D92C1D71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7EAD-205E-D9D9-61FD-FD2E3927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8117-CCFE-16C8-4695-953991C6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020F8-086E-7D48-3C3C-609A4215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24718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B7C1FC-4ED3-6935-C7B9-70006953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6409-C4C1-B5A7-BBC1-8C1E01330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3652-41AD-AA43-E967-F1F4EB804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E16D-AF08-DEFA-54E6-8C75C90DD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C9C91-6E09-C06A-951C-FFE222F7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0222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A759C-5D09-8E11-731E-6CF9A798B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CO" sz="4000">
                <a:solidFill>
                  <a:schemeClr val="tx2"/>
                </a:solidFill>
              </a:rPr>
              <a:t>Postgres</a:t>
            </a:r>
          </a:p>
        </p:txBody>
      </p:sp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CB945859-F22B-6490-74C5-0499A5DC8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8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D72D3-227D-CA68-630F-95E4EF2D3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Permisos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75F92D4-112C-21D2-F09F-4A7D170D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4080" y="2677815"/>
            <a:ext cx="8067040" cy="35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60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88490-B0A4-2AA0-5F91-AB1E2DD9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D16C7-0ABF-1C73-0E02-280DA2A9B13A}"/>
              </a:ext>
            </a:extLst>
          </p:cNvPr>
          <p:cNvSpPr txBox="1"/>
          <p:nvPr/>
        </p:nvSpPr>
        <p:spPr>
          <a:xfrm>
            <a:off x="2133600" y="2261198"/>
            <a:ext cx="82702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0" i="0" dirty="0" err="1">
                <a:solidFill>
                  <a:srgbClr val="1F2732"/>
                </a:solidFill>
                <a:effectLst/>
                <a:latin typeface="Mulish"/>
              </a:rPr>
              <a:t>Usuarios</a:t>
            </a:r>
            <a:r>
              <a:rPr lang="en-US" b="0" i="0" dirty="0">
                <a:solidFill>
                  <a:srgbClr val="1F2732"/>
                </a:solidFill>
                <a:effectLst/>
                <a:latin typeface="Mulish"/>
              </a:rPr>
              <a:t>, </a:t>
            </a:r>
            <a:r>
              <a:rPr lang="en-US" b="0" i="0" dirty="0" err="1">
                <a:solidFill>
                  <a:srgbClr val="1F2732"/>
                </a:solidFill>
                <a:effectLst/>
                <a:latin typeface="Mulish"/>
              </a:rPr>
              <a:t>grupos</a:t>
            </a:r>
            <a:r>
              <a:rPr lang="en-US" b="0" i="0" dirty="0">
                <a:solidFill>
                  <a:srgbClr val="1F2732"/>
                </a:solidFill>
                <a:effectLst/>
                <a:latin typeface="Mulish"/>
              </a:rPr>
              <a:t> y roles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Los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usuarios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,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grupos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y roles son lo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mismo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en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PostgreSQL, y la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única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diferencia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es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que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los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usuarios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tienen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permiso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para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iniciar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sesión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de forma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predeterminada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. Las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instrucciones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 </a:t>
            </a:r>
            <a:r>
              <a:rPr lang="en-US" b="0" i="1" dirty="0">
                <a:solidFill>
                  <a:srgbClr val="42545E"/>
                </a:solidFill>
                <a:effectLst/>
                <a:latin typeface="Mulish"/>
              </a:rPr>
              <a:t>CREATE USER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 y </a:t>
            </a:r>
            <a:r>
              <a:rPr lang="en-US" b="0" i="1" dirty="0">
                <a:solidFill>
                  <a:srgbClr val="42545E"/>
                </a:solidFill>
                <a:effectLst/>
                <a:latin typeface="Mulish"/>
              </a:rPr>
              <a:t>CREATE GROUP 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son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en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realidad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alias de la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instrucción</a:t>
            </a:r>
            <a:r>
              <a:rPr lang="en-US" b="0" i="1" dirty="0">
                <a:solidFill>
                  <a:srgbClr val="42545E"/>
                </a:solidFill>
                <a:effectLst/>
                <a:latin typeface="Mulish"/>
              </a:rPr>
              <a:t> CREATE ROLE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. Para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crear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un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usuario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de PostgreSQL,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utilizaremos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la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siguiente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instrucción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SQL: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8000"/>
                </a:solidFill>
                <a:effectLst/>
                <a:latin typeface="Cutive Mono"/>
              </a:rPr>
              <a:t>CREATE USER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utive Mono"/>
              </a:rPr>
              <a:t>myuser</a:t>
            </a:r>
            <a:r>
              <a:rPr lang="en-US" b="0" i="0" dirty="0">
                <a:solidFill>
                  <a:srgbClr val="008000"/>
                </a:solidFill>
                <a:effectLst/>
                <a:latin typeface="Cutive Mono"/>
              </a:rPr>
              <a:t> WITH PASSWORD ‘passwd’;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También se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podría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crear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un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usuario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con la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siguiente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</a:t>
            </a:r>
            <a:r>
              <a:rPr lang="en-US" b="0" i="0" dirty="0" err="1">
                <a:solidFill>
                  <a:srgbClr val="42545E"/>
                </a:solidFill>
                <a:effectLst/>
                <a:latin typeface="Mulish"/>
              </a:rPr>
              <a:t>instrucción</a:t>
            </a:r>
            <a:r>
              <a:rPr lang="en-US" b="0" i="0" dirty="0">
                <a:solidFill>
                  <a:srgbClr val="42545E"/>
                </a:solidFill>
                <a:effectLst/>
                <a:latin typeface="Mulish"/>
              </a:rPr>
              <a:t> SQL:</a:t>
            </a:r>
          </a:p>
          <a:p>
            <a:pPr algn="l"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8000"/>
                </a:solidFill>
                <a:effectLst/>
                <a:latin typeface="Cutive Mono"/>
              </a:rPr>
              <a:t>CREATE ROLE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utive Mono"/>
              </a:rPr>
              <a:t>myuser</a:t>
            </a:r>
            <a:r>
              <a:rPr lang="en-US" b="0" i="0" dirty="0">
                <a:solidFill>
                  <a:srgbClr val="008000"/>
                </a:solidFill>
                <a:effectLst/>
                <a:latin typeface="Cutive Mono"/>
              </a:rPr>
              <a:t> WITH LOGIN PASSWORD ‘passwd’;</a:t>
            </a:r>
          </a:p>
        </p:txBody>
      </p:sp>
    </p:spTree>
    <p:extLst>
      <p:ext uri="{BB962C8B-B14F-4D97-AF65-F5344CB8AC3E}">
        <p14:creationId xmlns:p14="http://schemas.microsoft.com/office/powerpoint/2010/main" val="408892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F7C54-AB8B-534C-DD69-0D31C175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Usuarios y Roles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16FA3-8241-1862-1CD3-8E1B1BFC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7" y="3514367"/>
            <a:ext cx="10118598" cy="21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5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8686-920A-3000-2ECB-1C4C65D5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Public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68C36-3F55-4118-D82A-145D20C3BD38}"/>
              </a:ext>
            </a:extLst>
          </p:cNvPr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Esquema public y rol public</a:t>
            </a:r>
          </a:p>
          <a:p>
            <a:pPr indent="-228600">
              <a:lnSpc>
                <a:spcPct val="9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Cuando creamos una nueva base de datos, PostgreSQL crea de forma predeterminada un esquema denominado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 y concede acceso en este esquema a un rol de backend denominado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. A todos los usuarios y roles nuevos se les concede de forma predeterminada el rol </a:t>
            </a:r>
            <a:r>
              <a:rPr lang="en-US" sz="1100" b="0" i="1">
                <a:effectLst/>
              </a:rPr>
              <a:t>public </a:t>
            </a:r>
            <a:r>
              <a:rPr lang="en-US" sz="1100" b="0" i="0">
                <a:effectLst/>
              </a:rPr>
              <a:t>y, por lo tanto, pueden crear objetos en el esquema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Cuando un usuario intenta crear una nueva tabla sin especificar el nombre del esquema, la tabla se crea en el esquema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. De forma predeterminada, todos los usuarios tienen acceso para crear objetos en el esquema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 y esto se convierte en un problema si intentamos crear un usuario de solo lectura. Incluso si restringimos todos los privilegios, los permisos heredados a través del rol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 permiten al usuario crear objetos en el esquema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Para solucionarlo, se debe revocar el permiso de creación predeterminado en el esquema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 desde el rol </a:t>
            </a:r>
            <a:r>
              <a:rPr lang="en-US" sz="1100" b="0" i="1">
                <a:effectLst/>
              </a:rPr>
              <a:t>public</a:t>
            </a:r>
            <a:r>
              <a:rPr lang="en-US" sz="1100" b="0" i="0">
                <a:effectLst/>
              </a:rPr>
              <a:t> mediante la siguiente instrucción SQL:</a:t>
            </a:r>
          </a:p>
          <a:p>
            <a:pPr indent="-228600">
              <a:lnSpc>
                <a:spcPct val="9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REVOKE CREATE ON SCHEMA public FROM PUBLIC;</a:t>
            </a:r>
          </a:p>
        </p:txBody>
      </p:sp>
    </p:spTree>
    <p:extLst>
      <p:ext uri="{BB962C8B-B14F-4D97-AF65-F5344CB8AC3E}">
        <p14:creationId xmlns:p14="http://schemas.microsoft.com/office/powerpoint/2010/main" val="329589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ight Triangle 615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3891D-0CD2-C068-7E2A-A189C818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Creacion de roles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FC8951-8731-AEAB-6498-804DC17FE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357" y="3217329"/>
            <a:ext cx="3533985" cy="233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E6B91-4300-DBBF-C154-523236E8A078}"/>
              </a:ext>
            </a:extLst>
          </p:cNvPr>
          <p:cNvSpPr txBox="1"/>
          <p:nvPr/>
        </p:nvSpPr>
        <p:spPr>
          <a:xfrm>
            <a:off x="5255260" y="2998278"/>
            <a:ext cx="4238257" cy="272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0" i="0">
                <a:effectLst/>
              </a:rPr>
              <a:t>Crear roles de base de datos</a:t>
            </a:r>
            <a:endParaRPr lang="en-US" sz="1400" b="1" i="0">
              <a:effectLst/>
            </a:endParaRPr>
          </a:p>
          <a:p>
            <a:pPr indent="-228600">
              <a:lnSpc>
                <a:spcPct val="90000"/>
              </a:lnSpc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effectLst/>
              </a:rPr>
              <a:t>En las siguientes secciones se documenta el proceso de creación de nuevos roles y el proceso de concesión de permisos para acceder a varios objetos de base de datos. Los permisos deben concederse a nivel de base de datos, esquema y objeto de esquema. Por ejemplo, si necesita conceder acceso a una tabla, también debe asegurarse de que el rol tenga acceso a la base de datos y al esquema en que existe la tabla. Si falta alguno de los permisos, el rol no puede acceder a la tabla.</a:t>
            </a:r>
          </a:p>
        </p:txBody>
      </p:sp>
    </p:spTree>
    <p:extLst>
      <p:ext uri="{BB962C8B-B14F-4D97-AF65-F5344CB8AC3E}">
        <p14:creationId xmlns:p14="http://schemas.microsoft.com/office/powerpoint/2010/main" val="592164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FB6E9-E438-33BF-7835-45DD10F5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CO" sz="3300">
                <a:solidFill>
                  <a:srgbClr val="FFFFFF"/>
                </a:solidFill>
              </a:rPr>
              <a:t>Autenticacion IAM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33CC4CC-3E7B-D9E5-58B2-9CDCC338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9012" y="643466"/>
            <a:ext cx="6417308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69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C9B9A-F319-F77C-D3F2-A32C73E3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E4DEF-9B41-73DB-E3AC-73FC6C3A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Primeros Pasos para los permisos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A9621-BE20-3204-6A8E-6A1D8FFB2787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-- Revocando privilegios del rol 'public'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REVOKE CREATE ON SCHEMA public FROM PUBLIC;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REVOKE ALL ON DATABASE mydatabase FROM PUBLIC;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-- Rol solo lectura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CREATE ROLE readonly;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GRANT CONNECT ON DATABASE mydatabase TO readonly;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GRANT USAGE ON SCHEMA myschema TO readonly;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GRANT SELECT ON ALL TABLES IN SCHEMA myschema TO readonly;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</a:rPr>
              <a:t>ALTER DEFAULT PRIVILEGES IN SCHEMA myschema GRANT SELECT ON TABLES TO readonly;</a:t>
            </a:r>
          </a:p>
        </p:txBody>
      </p:sp>
    </p:spTree>
    <p:extLst>
      <p:ext uri="{BB962C8B-B14F-4D97-AF65-F5344CB8AC3E}">
        <p14:creationId xmlns:p14="http://schemas.microsoft.com/office/powerpoint/2010/main" val="408464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9D5C4-E053-09FB-201D-A1CA8264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Creacion de Roles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84892-6DA3-37B4-4186-D981F07C8191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-- Rol lectura-escritura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CREATE ROLE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CONNECT ON DATABASE mydatabase TO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USAGE, CREATE ON SCHEMA myschema TO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SELECT, INSERT, UPDATE, DELETE ON ALL TABLES IN SCHEMA myschema TO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ALTER DEFAULT PRIVILEGES IN SCHEMA myschema GRANT SELECT, INSERT, UPDATE, DELETE ON TABLES TO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USAGE ON ALL SEQUENCES IN SCHEMA myschema TO readwrite;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ALTER DEFAULT PRIVILEGES IN SCHEMA myschema GRANT USAGE ON SEQUENCES TO readwrite;</a:t>
            </a:r>
          </a:p>
        </p:txBody>
      </p:sp>
    </p:spTree>
    <p:extLst>
      <p:ext uri="{BB962C8B-B14F-4D97-AF65-F5344CB8AC3E}">
        <p14:creationId xmlns:p14="http://schemas.microsoft.com/office/powerpoint/2010/main" val="351171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BD9E6-3955-03C9-6EC4-DE6F4435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Creacion de Usuarios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839A2-A6FA-7121-24FE-AD2432811DCC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-- Creacion de usuarios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CREATE USER reporting_user1 WITH PASSWORD 'some_secret_passwd';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CREATE USER reporting_user2 WITH PASSWORD 'some_secret_passwd';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CREATE USER app_user1 WITH PASSWORD 'some_secret_passwd';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CREATE USER app_user2 WITH PASSWORD 'some_secret_passwd';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-- Concediendo permisos a usuarios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readonly TO reporting_user1;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readonly TO reporting_user2;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readwrite TO app_user1;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GRANT readwrite TO app_user2;</a:t>
            </a:r>
          </a:p>
        </p:txBody>
      </p:sp>
    </p:spTree>
    <p:extLst>
      <p:ext uri="{BB962C8B-B14F-4D97-AF65-F5344CB8AC3E}">
        <p14:creationId xmlns:p14="http://schemas.microsoft.com/office/powerpoint/2010/main" val="164039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20265</TotalTime>
  <Words>644</Words>
  <Application>Microsoft Macintosh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Cutive Mono</vt:lpstr>
      <vt:lpstr>Mulish</vt:lpstr>
      <vt:lpstr>Office Theme</vt:lpstr>
      <vt:lpstr>Postgres</vt:lpstr>
      <vt:lpstr>Permisos</vt:lpstr>
      <vt:lpstr>Roles </vt:lpstr>
      <vt:lpstr>Usuarios y Roles</vt:lpstr>
      <vt:lpstr>Public </vt:lpstr>
      <vt:lpstr>Creacion de roles</vt:lpstr>
      <vt:lpstr>Autenticacion IAM</vt:lpstr>
      <vt:lpstr>Primeros Pasos para los permisos</vt:lpstr>
      <vt:lpstr>Creacion de Roles</vt:lpstr>
      <vt:lpstr>Creacion de Usuarios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Yela</dc:creator>
  <cp:lastModifiedBy>Alexander Yela</cp:lastModifiedBy>
  <cp:revision>4</cp:revision>
  <dcterms:created xsi:type="dcterms:W3CDTF">2025-10-08T21:55:33Z</dcterms:created>
  <dcterms:modified xsi:type="dcterms:W3CDTF">2025-10-22T23:40:55Z</dcterms:modified>
</cp:coreProperties>
</file>